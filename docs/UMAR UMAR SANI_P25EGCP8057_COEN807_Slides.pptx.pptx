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-82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3241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344307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0957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426439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76542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1225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53654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304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23315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259225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29327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8968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700379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28449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28241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61769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9933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14E409-0381-44D1-9BCF-503305163DE7}" type="datetimeFigureOut">
              <a:rPr lang="x-none" smtClean="0"/>
              <a:pPr/>
              <a:t>6/21/2026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DE963B-9F33-4601-AADE-1358C195A7C9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xmlns="" val="107321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1171C9-F4F1-3971-DFA7-9A532DEE2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684870"/>
            <a:ext cx="6815669" cy="1515533"/>
          </a:xfrm>
        </p:spPr>
        <p:txBody>
          <a:bodyPr/>
          <a:lstStyle/>
          <a:p>
            <a:r>
              <a:rPr lang="en-US" sz="3200" dirty="0" smtClean="0"/>
              <a:t>Predicting House Prices in Abuja Using Machine Learning</a:t>
            </a:r>
            <a:endParaRPr lang="x-none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E45B0B2-705A-71D4-4F80-7B86FDDBA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530990"/>
            <a:ext cx="7000242" cy="17021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Umar</a:t>
            </a:r>
            <a:r>
              <a:rPr lang="en-US" b="1" dirty="0" smtClean="0"/>
              <a:t> </a:t>
            </a:r>
            <a:r>
              <a:rPr lang="en-US" b="1" dirty="0" err="1" smtClean="0"/>
              <a:t>Umar</a:t>
            </a:r>
            <a:r>
              <a:rPr lang="en-US" b="1" dirty="0" smtClean="0"/>
              <a:t> </a:t>
            </a:r>
            <a:r>
              <a:rPr lang="en-US" b="1" dirty="0" err="1" smtClean="0"/>
              <a:t>Sani</a:t>
            </a:r>
            <a:endParaRPr lang="en-US" b="1" dirty="0" smtClean="0"/>
          </a:p>
          <a:p>
            <a:r>
              <a:rPr lang="x-none" b="1" smtClean="0"/>
              <a:t>(P2</a:t>
            </a:r>
            <a:r>
              <a:rPr lang="en-US" b="1" dirty="0" smtClean="0"/>
              <a:t>5</a:t>
            </a:r>
            <a:r>
              <a:rPr lang="x-none" b="1" smtClean="0"/>
              <a:t>EGCP80</a:t>
            </a:r>
            <a:r>
              <a:rPr lang="en-US" b="1" dirty="0" smtClean="0"/>
              <a:t>57</a:t>
            </a:r>
            <a:r>
              <a:rPr lang="x-none" b="1" smtClean="0"/>
              <a:t>)</a:t>
            </a:r>
            <a:endParaRPr lang="en-US" b="1" dirty="0" smtClean="0"/>
          </a:p>
          <a:p>
            <a:r>
              <a:rPr lang="en-US" sz="1900" dirty="0" smtClean="0"/>
              <a:t>COEN807 (Machine Learning) Term Project</a:t>
            </a:r>
            <a:r>
              <a:rPr lang="x-none" b="1" dirty="0"/>
              <a:t/>
            </a:r>
            <a:br>
              <a:rPr lang="x-none" b="1" dirty="0"/>
            </a:br>
            <a:r>
              <a:rPr lang="x-none" dirty="0"/>
              <a:t>Dept. Of Computer Engineering, ABU</a:t>
            </a:r>
            <a:r>
              <a:rPr lang="x-none"/>
              <a:t>, </a:t>
            </a:r>
            <a:r>
              <a:rPr lang="x-none" smtClean="0"/>
              <a:t>Zaria</a:t>
            </a:r>
            <a:endParaRPr lang="en-US" dirty="0" smtClean="0"/>
          </a:p>
          <a:p>
            <a:r>
              <a:rPr lang="en-US" b="1" dirty="0" smtClean="0"/>
              <a:t>2026</a:t>
            </a:r>
            <a:endParaRPr lang="x-none" b="1" dirty="0"/>
          </a:p>
          <a:p>
            <a:endParaRPr lang="x-none" dirty="0"/>
          </a:p>
        </p:txBody>
      </p:sp>
      <p:pic>
        <p:nvPicPr>
          <p:cNvPr id="4" name="Picture 3" descr="A green and white logo&#10;&#10;Description automatically generated">
            <a:extLst>
              <a:ext uri="{FF2B5EF4-FFF2-40B4-BE49-F238E27FC236}">
                <a16:creationId xmlns:a16="http://schemas.microsoft.com/office/drawing/2014/main" xmlns="" id="{5948E57A-6CFE-26FC-95AC-5AD2CFAA63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4959" y="78378"/>
            <a:ext cx="1808097" cy="1606492"/>
          </a:xfrm>
          <a:prstGeom prst="rect">
            <a:avLst/>
          </a:prstGeom>
        </p:spPr>
      </p:pic>
      <p:pic>
        <p:nvPicPr>
          <p:cNvPr id="5" name="Picture 4" descr="A blue circle with a line in it&#10;&#10;Description automatically generated">
            <a:extLst>
              <a:ext uri="{FF2B5EF4-FFF2-40B4-BE49-F238E27FC236}">
                <a16:creationId xmlns:a16="http://schemas.microsoft.com/office/drawing/2014/main" xmlns="" id="{512FF67A-1B0A-031B-611A-5CBCD7D967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211913" y="199024"/>
            <a:ext cx="1600142" cy="1485846"/>
          </a:xfrm>
          <a:prstGeom prst="rect">
            <a:avLst/>
          </a:prstGeom>
        </p:spPr>
      </p:pic>
      <p:sp>
        <p:nvSpPr>
          <p:cNvPr id="6" name="Rectangle 58">
            <a:extLst>
              <a:ext uri="{FF2B5EF4-FFF2-40B4-BE49-F238E27FC236}">
                <a16:creationId xmlns:a16="http://schemas.microsoft.com/office/drawing/2014/main" xmlns="" id="{DE2246E6-3C76-2DFC-D60A-6505DECF9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928" y="203947"/>
            <a:ext cx="6993674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DEPARTMENT OF COMPUTER ENGINEERING </a:t>
            </a:r>
            <a:endParaRPr kumimoji="0" lang="x-none" altLang="x-non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FACULTY OF ENGINEERING </a:t>
            </a:r>
            <a:endParaRPr kumimoji="0" lang="x-none" altLang="x-none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x-none" altLang="x-none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AHMADU BELLO UNIVERSITY, ZARIA</a:t>
            </a:r>
            <a:r>
              <a:rPr kumimoji="0" lang="x-none" altLang="x-non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x-none" altLang="x-non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613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24B879-BF73-922D-361E-107A296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Overview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032783-24CB-E27A-2143-E286F5312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Challenge: Manual property: valuation is subjective &amp; inconsistent </a:t>
            </a:r>
          </a:p>
          <a:p>
            <a:r>
              <a:rPr lang="en-US" dirty="0" smtClean="0"/>
              <a:t>Goal </a:t>
            </a:r>
            <a:r>
              <a:rPr lang="en-US" b="1" dirty="0" smtClean="0"/>
              <a:t>: </a:t>
            </a:r>
            <a:r>
              <a:rPr lang="en-US" dirty="0" smtClean="0"/>
              <a:t>Build reproducible ML pipeline for price prediction</a:t>
            </a:r>
            <a:endParaRPr lang="en-US" dirty="0"/>
          </a:p>
          <a:p>
            <a:r>
              <a:rPr lang="en-US" dirty="0" smtClean="0"/>
              <a:t> Importance: Supports buyers, sellers, regulators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107210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879A89-82AE-0E28-69E8-2B359118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Description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6F0F64-AB7F-9B79-7111-C9A51DC07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Source: </a:t>
            </a:r>
            <a:r>
              <a:rPr lang="en-US" dirty="0" err="1" smtClean="0"/>
              <a:t>Kaggle</a:t>
            </a:r>
            <a:r>
              <a:rPr lang="en-US" dirty="0" smtClean="0"/>
              <a:t> / Open Data (Nigeria Real Estate)</a:t>
            </a:r>
            <a:endParaRPr lang="en-US" dirty="0"/>
          </a:p>
          <a:p>
            <a:r>
              <a:rPr lang="en-US" dirty="0" smtClean="0"/>
              <a:t>Records: ~5,000 properties</a:t>
            </a:r>
          </a:p>
          <a:p>
            <a:r>
              <a:rPr lang="en-US" dirty="0" smtClean="0"/>
              <a:t>Features: Floor area, bedrooms, bathrooms, location, year built</a:t>
            </a:r>
          </a:p>
          <a:p>
            <a:r>
              <a:rPr lang="en-US" dirty="0" smtClean="0"/>
              <a:t>Target: Price (millions NGN)</a:t>
            </a:r>
          </a:p>
          <a:p>
            <a:r>
              <a:rPr lang="en-US" dirty="0" smtClean="0"/>
              <a:t>Diagram: Table snapshot of dataset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85404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17C57-CA5B-BFED-0F6D-810C44A1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Preprocessing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A9F037-FD13-5E54-9B78-CD278FEE1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Handle missing values (median imputation)</a:t>
            </a:r>
          </a:p>
          <a:p>
            <a:r>
              <a:rPr lang="en-US" dirty="0" smtClean="0"/>
              <a:t>Encode categorical variables (One-Hot for location)</a:t>
            </a:r>
          </a:p>
          <a:p>
            <a:r>
              <a:rPr lang="en-US" dirty="0" smtClean="0"/>
              <a:t>Linear </a:t>
            </a:r>
            <a:r>
              <a:rPr lang="en-US" dirty="0"/>
              <a:t>programming's effectiveness in improving scheduling efficiency and reducing </a:t>
            </a:r>
            <a:r>
              <a:rPr lang="en-US" dirty="0" smtClean="0"/>
              <a:t>costs</a:t>
            </a:r>
          </a:p>
          <a:p>
            <a:r>
              <a:rPr lang="en-US" dirty="0" smtClean="0"/>
              <a:t>Normalize continuous features (</a:t>
            </a:r>
            <a:r>
              <a:rPr lang="en-US" dirty="0" err="1" smtClean="0"/>
              <a:t>MinMax</a:t>
            </a:r>
            <a:r>
              <a:rPr lang="en-US" dirty="0" smtClean="0"/>
              <a:t> scaling)</a:t>
            </a:r>
          </a:p>
          <a:p>
            <a:r>
              <a:rPr lang="en-US" dirty="0" smtClean="0"/>
              <a:t>Feature engineering: Price per </a:t>
            </a:r>
            <a:r>
              <a:rPr lang="en-US" dirty="0" err="1" smtClean="0"/>
              <a:t>sqm</a:t>
            </a:r>
            <a:r>
              <a:rPr lang="en-US" dirty="0" smtClean="0"/>
              <a:t>, property age</a:t>
            </a:r>
          </a:p>
          <a:p>
            <a:r>
              <a:rPr lang="en-US" dirty="0" smtClean="0"/>
              <a:t>Diagram: Flowchart of preprocessing pipeline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189704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9EE83E-BB78-99CF-B235-35F3C5FD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9FF776-F1A6-0077-EB9F-9205C85ED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Models compared: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Linear Regression (baseline, interpretable)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Polynomial Regression (captures non-linear trends)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Random Forest (robust, complex interactions)Ensure </a:t>
            </a:r>
            <a:r>
              <a:rPr lang="en-US" dirty="0"/>
              <a:t>shifts are covered by qualified staff</a:t>
            </a:r>
          </a:p>
          <a:p>
            <a:r>
              <a:rPr lang="en-US" dirty="0" smtClean="0"/>
              <a:t>Diagram: Model comparison schematic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91948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63D69F-4BF8-CA4D-E2B4-CAABE1AD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Setup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77723B-4DC9-ECA4-2E83-58752240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Split: 70% train, 15% validation, 15% test</a:t>
            </a:r>
            <a:endParaRPr lang="en-US" dirty="0"/>
          </a:p>
          <a:p>
            <a:r>
              <a:rPr lang="en-US" dirty="0" smtClean="0"/>
              <a:t>Metrics: MAE, RMSE, R²</a:t>
            </a:r>
          </a:p>
          <a:p>
            <a:r>
              <a:rPr lang="en-US" dirty="0" err="1" smtClean="0"/>
              <a:t>Hyperparameter</a:t>
            </a:r>
            <a:r>
              <a:rPr lang="en-US" dirty="0" smtClean="0"/>
              <a:t> tuning: </a:t>
            </a:r>
            <a:r>
              <a:rPr lang="en-US" dirty="0" err="1" smtClean="0"/>
              <a:t>GridSearchCV</a:t>
            </a:r>
            <a:r>
              <a:rPr lang="en-US" dirty="0" smtClean="0"/>
              <a:t> for Random Forest</a:t>
            </a:r>
          </a:p>
          <a:p>
            <a:r>
              <a:rPr lang="en-US" dirty="0" smtClean="0"/>
              <a:t>Diagram: Train/Validation/Test split illustration</a:t>
            </a:r>
          </a:p>
          <a:p>
            <a:pPr>
              <a:buNone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215116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3501B6-FFD7-5EEA-79A0-C1D86C37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x-non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 smtClean="0"/>
              <a:t>M</a:t>
            </a:r>
            <a:r>
              <a:rPr lang="en-US" sz="2000" b="1" dirty="0" smtClean="0"/>
              <a:t>odel Performance Comparison  Table</a:t>
            </a:r>
            <a:endParaRPr lang="en-US" sz="2000" b="1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1295400" y="3235325"/>
          <a:ext cx="506254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635"/>
                <a:gridCol w="1265635"/>
                <a:gridCol w="1265635"/>
                <a:gridCol w="126563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Model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RMSE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</a:t>
                      </a:r>
                      <a:r>
                        <a:rPr lang="en-US" sz="1600" dirty="0" smtClean="0">
                          <a:effectLst/>
                        </a:rPr>
                        <a:t>2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Linear Regression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4.33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Polynomial 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2.85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NCAT\Desktop\barchat.jpe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5107" y="3243263"/>
            <a:ext cx="3948112" cy="2632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80456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5035EC-1F32-8C42-F839-5165CF9F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Residual Analysis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DEAE95-6330-BD9C-2355-90CB71875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 Regression: Residuals show parabolic pattern → </a:t>
            </a:r>
            <a:r>
              <a:rPr lang="en-US" dirty="0" err="1" smtClean="0"/>
              <a:t>underfit</a:t>
            </a:r>
            <a:endParaRPr lang="en-US" dirty="0" smtClean="0"/>
          </a:p>
          <a:p>
            <a:r>
              <a:rPr lang="en-US" dirty="0" smtClean="0"/>
              <a:t>Polynomial Regression: Better fit, reduced curvature</a:t>
            </a:r>
          </a:p>
          <a:p>
            <a:r>
              <a:rPr lang="en-US" dirty="0" smtClean="0"/>
              <a:t>Random Forest: Residuals closer to random scatter</a:t>
            </a:r>
          </a:p>
          <a:p>
            <a:r>
              <a:rPr lang="en-US" dirty="0" smtClean="0"/>
              <a:t>Diagram: Residual plots (Linear </a:t>
            </a:r>
            <a:r>
              <a:rPr lang="en-US" dirty="0" err="1" smtClean="0"/>
              <a:t>vs</a:t>
            </a:r>
            <a:r>
              <a:rPr lang="en-US" dirty="0" smtClean="0"/>
              <a:t> Polynomial </a:t>
            </a:r>
            <a:r>
              <a:rPr lang="en-US" dirty="0" err="1" smtClean="0"/>
              <a:t>vs</a:t>
            </a:r>
            <a:r>
              <a:rPr lang="en-US" dirty="0" smtClean="0"/>
              <a:t> RF)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413234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0E9E59-9BAD-0B78-8638-A0D41728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Analysis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AA36F8-7907-9204-CEBA-F039014A5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52923"/>
          </a:xfrm>
        </p:spPr>
        <p:txBody>
          <a:bodyPr>
            <a:normAutofit/>
          </a:bodyPr>
          <a:lstStyle/>
          <a:p>
            <a:pPr marL="0" indent="0"/>
            <a:r>
              <a:rPr lang="en-US" dirty="0" smtClean="0"/>
              <a:t>Linear Regression: Simple, interpretable, weaker accuracy</a:t>
            </a:r>
          </a:p>
          <a:p>
            <a:pPr marL="0" indent="0"/>
            <a:r>
              <a:rPr lang="en-US" dirty="0" smtClean="0"/>
              <a:t>Polynomial Regression: Better fit, risk of </a:t>
            </a:r>
            <a:r>
              <a:rPr lang="en-US" dirty="0" err="1" smtClean="0"/>
              <a:t>overfitting</a:t>
            </a:r>
            <a:endParaRPr lang="en-US" dirty="0" smtClean="0"/>
          </a:p>
          <a:p>
            <a:pPr marL="0" indent="0"/>
            <a:r>
              <a:rPr lang="en-US" dirty="0" smtClean="0"/>
              <a:t>Random Forest: Best accuracy, less interpretable</a:t>
            </a:r>
          </a:p>
          <a:p>
            <a:pPr marL="0" indent="0"/>
            <a:r>
              <a:rPr lang="en-US" dirty="0" smtClean="0"/>
              <a:t>Trade-off: Accuracy </a:t>
            </a:r>
            <a:r>
              <a:rPr lang="en-US" dirty="0" err="1" smtClean="0"/>
              <a:t>vs</a:t>
            </a:r>
            <a:r>
              <a:rPr lang="en-US" dirty="0" smtClean="0"/>
              <a:t> Interpretability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755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1F900E-D638-10F1-6833-4B8315D9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1267E2-42B2-A294-1D98-2AD379E2D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Forest achieves lowest error (best predictive power)</a:t>
            </a:r>
          </a:p>
          <a:p>
            <a:r>
              <a:rPr lang="en-US" dirty="0" smtClean="0"/>
              <a:t>Linear Regression remains defensible for regulatory contexts</a:t>
            </a:r>
          </a:p>
          <a:p>
            <a:r>
              <a:rPr lang="en-US" dirty="0" smtClean="0"/>
              <a:t>Polynomial regression improves fit but adds complexity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332129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861E19-0F4A-6C07-71CF-3EC5795A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&amp; Lessons Learned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AADDCC-C562-E443-1089-61068344A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Dataset limited to Abuja → risk of distribution shift</a:t>
            </a:r>
          </a:p>
          <a:p>
            <a:r>
              <a:rPr lang="en-US" dirty="0" smtClean="0"/>
              <a:t>Location encoding may proxy socio-economic bias</a:t>
            </a:r>
          </a:p>
          <a:p>
            <a:r>
              <a:rPr lang="en-US" dirty="0" smtClean="0"/>
              <a:t>Lesson: Balance predictive power with fairness &amp; transparency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xmlns="" val="166828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ML can improve property valuation accuracy</a:t>
            </a:r>
          </a:p>
          <a:p>
            <a:r>
              <a:rPr lang="en-US" dirty="0" smtClean="0"/>
              <a:t>Random Forest recommended for predictive tasks</a:t>
            </a:r>
          </a:p>
          <a:p>
            <a:r>
              <a:rPr lang="en-US" dirty="0" smtClean="0"/>
              <a:t>Linear Regression recommended for interpretability in disputes</a:t>
            </a:r>
          </a:p>
          <a:p>
            <a:r>
              <a:rPr lang="en-US" dirty="0" smtClean="0"/>
              <a:t>Future work: Expand dataset, fairness-aware ML, SHAP interpretability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Larger dataset across Nigerian states</a:t>
            </a:r>
          </a:p>
          <a:p>
            <a:r>
              <a:rPr lang="en-US" dirty="0" smtClean="0"/>
              <a:t>Incorporate socioeconomic fairness checks</a:t>
            </a:r>
          </a:p>
          <a:p>
            <a:r>
              <a:rPr lang="en-US" dirty="0" smtClean="0"/>
              <a:t>Deploy explainable AI tools (e.g., SHAP, LIME)</a:t>
            </a:r>
          </a:p>
          <a:p>
            <a:r>
              <a:rPr lang="en-US" dirty="0" smtClean="0"/>
              <a:t>Continuous monitoring post-deployment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&amp; Artifacts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repo: Source code, notebooks, README</a:t>
            </a:r>
          </a:p>
          <a:p>
            <a:r>
              <a:rPr lang="en-US" dirty="0" smtClean="0"/>
              <a:t>Artifacts: Trained models, residual plots, evaluation tables</a:t>
            </a:r>
          </a:p>
          <a:p>
            <a:r>
              <a:rPr lang="en-US" dirty="0" smtClean="0"/>
              <a:t>Reproducibility: Clear workflow, dependencies listed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	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4000" b="1" dirty="0" smtClean="0"/>
              <a:t>Thank you</a:t>
            </a:r>
            <a:endParaRPr lang="en-US" sz="4000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150</TotalTime>
  <Words>464</Words>
  <Application>Microsoft Office PowerPoint</Application>
  <PresentationFormat>Custom</PresentationFormat>
  <Paragraphs>90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Organic</vt:lpstr>
      <vt:lpstr>Predicting House Prices in Abuja Using Machine Learning</vt:lpstr>
      <vt:lpstr>Problem Overview</vt:lpstr>
      <vt:lpstr>Dataset Description</vt:lpstr>
      <vt:lpstr>Data Preprocessing</vt:lpstr>
      <vt:lpstr>Methodology</vt:lpstr>
      <vt:lpstr>Experiment Setup</vt:lpstr>
      <vt:lpstr>Results</vt:lpstr>
      <vt:lpstr>Residual Analysis</vt:lpstr>
      <vt:lpstr>Comparative Analysis</vt:lpstr>
      <vt:lpstr>Key Findings</vt:lpstr>
      <vt:lpstr>Challenges &amp; Lessons Learned</vt:lpstr>
      <vt:lpstr>Conclusion</vt:lpstr>
      <vt:lpstr>Future Work</vt:lpstr>
      <vt:lpstr>GitHub &amp; Artifacts</vt:lpstr>
      <vt:lpstr>Closing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House Prices in Abuja Using Machine Learning</dc:title>
  <cp:lastModifiedBy>INSTRUCTOR UMAR</cp:lastModifiedBy>
  <cp:revision>7</cp:revision>
  <dcterms:created xsi:type="dcterms:W3CDTF">2024-07-30T21:44:36Z</dcterms:created>
  <dcterms:modified xsi:type="dcterms:W3CDTF">2026-06-21T15:37:29Z</dcterms:modified>
</cp:coreProperties>
</file>